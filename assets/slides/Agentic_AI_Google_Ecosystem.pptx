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74" r:id="rId10"/>
    <p:sldId id="263" r:id="rId11"/>
    <p:sldId id="275" r:id="rId12"/>
    <p:sldId id="264" r:id="rId13"/>
    <p:sldId id="265" r:id="rId14"/>
    <p:sldId id="278" r:id="rId15"/>
    <p:sldId id="266" r:id="rId16"/>
    <p:sldId id="272" r:id="rId17"/>
    <p:sldId id="267" r:id="rId18"/>
    <p:sldId id="277" r:id="rId19"/>
    <p:sldId id="268" r:id="rId20"/>
    <p:sldId id="276" r:id="rId21"/>
    <p:sldId id="269" r:id="rId22"/>
    <p:sldId id="270" r:id="rId23"/>
    <p:sldId id="271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21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Welcome to the comprehensive tutorial on Agentic AI.</a:t>
            </a:r>
          </a:p>
          <a:p>
            <a:r>
              <a:t>- We are currently in a "phase transition" from the era of Generative AI (stateless, chat-based) to Agentic AI (stateful, autonomous workflows).</a:t>
            </a:r>
          </a:p>
          <a:p>
            <a:r>
              <a:t>- Today we will cover the three pillars of the Google ecosystem:</a:t>
            </a:r>
          </a:p>
          <a:p>
            <a:r>
              <a:t>    1. Google ADK: The "kernel" for agent orchestration.</a:t>
            </a:r>
          </a:p>
          <a:p>
            <a:r>
              <a:t>    2. Vertex AI Agent Engine: The managed runtime for persistence and scale.</a:t>
            </a:r>
          </a:p>
          <a:p>
            <a:r>
              <a:t>    3. A2A Protocol: The standard for agent interoperability.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the code structure: You define a standard Python function, pass it to the agent, and ADK handles the serialization. You don't write raw JSON schemas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7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8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6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9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5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59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6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6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1822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82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0360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59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6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9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2a-protocol.org/" TargetMode="External"/><Relationship Id="rId2" Type="http://schemas.openxmlformats.org/officeDocument/2006/relationships/hyperlink" Target="https://google.github.io/adk-doc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cloud.google.com/architecture/agentic-ai-overview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State of the Art in Agentic AI: From Scripts to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 Technical Deep Dive into Google ADK, Vertex AI Agent Engine, and the A2A Protocol</a:t>
            </a:r>
          </a:p>
          <a:p>
            <a:r>
              <a:rPr lang="en-US" sz="1700" dirty="0"/>
              <a:t>Muntaser Syed</a:t>
            </a:r>
            <a:endParaRPr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4C712-461E-2152-7D4C-1FA32385D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" y="4372926"/>
            <a:ext cx="2159163" cy="2485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 (Roadmap)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| Module 1: Foundations of Agentic Engineering</a:t>
            </a:r>
          </a:p>
          <a:p>
            <a:pPr>
              <a:defRPr sz="1800"/>
            </a:pPr>
            <a:r>
              <a:rPr dirty="0"/>
              <a:t>   - System 2 Thinking &amp; Cognitive Architectures</a:t>
            </a:r>
          </a:p>
          <a:p>
            <a:pPr>
              <a:defRPr sz="1800"/>
            </a:pPr>
            <a:r>
              <a:rPr dirty="0"/>
              <a:t>   - The </a:t>
            </a:r>
            <a:r>
              <a:rPr dirty="0" err="1"/>
              <a:t>LlmAgent</a:t>
            </a:r>
            <a:r>
              <a:rPr dirty="0"/>
              <a:t> Primitive</a:t>
            </a:r>
          </a:p>
          <a:p>
            <a:pPr>
              <a:defRPr sz="1800"/>
            </a:pPr>
            <a:r>
              <a:rPr dirty="0"/>
              <a:t>| Module 2: Advanced Orchestration Patterns</a:t>
            </a:r>
          </a:p>
          <a:p>
            <a:pPr>
              <a:defRPr sz="1800"/>
            </a:pPr>
            <a:r>
              <a:rPr dirty="0"/>
              <a:t>   - Workflow Agents: Sequential, Parallel, Loop</a:t>
            </a:r>
          </a:p>
          <a:p>
            <a:pPr>
              <a:defRPr sz="1800"/>
            </a:pPr>
            <a:r>
              <a:rPr dirty="0"/>
              <a:t>   - Hierarchical Task Decomposition</a:t>
            </a:r>
          </a:p>
          <a:p>
            <a:pPr>
              <a:defRPr sz="1800"/>
            </a:pPr>
            <a:r>
              <a:rPr dirty="0"/>
              <a:t>| Module 3: State, Memory &amp; The Runtime</a:t>
            </a:r>
          </a:p>
          <a:p>
            <a:pPr>
              <a:defRPr sz="1800"/>
            </a:pPr>
            <a:r>
              <a:rPr dirty="0"/>
              <a:t>   - The Session Object and Memory Banks</a:t>
            </a:r>
          </a:p>
          <a:p>
            <a:pPr>
              <a:defRPr sz="1800"/>
            </a:pPr>
            <a:r>
              <a:rPr dirty="0"/>
              <a:t>   - Deploying to Vertex AI Agent Engine</a:t>
            </a:r>
          </a:p>
          <a:p>
            <a:pPr>
              <a:defRPr sz="1800"/>
            </a:pPr>
            <a:r>
              <a:rPr dirty="0"/>
              <a:t>| Module 4: The Internet of Agents (A2A)</a:t>
            </a:r>
          </a:p>
          <a:p>
            <a:pPr>
              <a:defRPr sz="1800"/>
            </a:pPr>
            <a:r>
              <a:rPr dirty="0"/>
              <a:t>   - Protocol Spec: JSON-RPC 2.0 &amp; OIDC</a:t>
            </a:r>
          </a:p>
          <a:p>
            <a:pPr>
              <a:defRPr sz="1800"/>
            </a:pPr>
            <a:r>
              <a:rPr dirty="0"/>
              <a:t>   - Discovery, Handshakes, and Task Lifecycles</a:t>
            </a:r>
          </a:p>
          <a:p>
            <a:pPr>
              <a:defRPr sz="1800"/>
            </a:pPr>
            <a:r>
              <a:rPr dirty="0"/>
              <a:t>| Module 5: </a:t>
            </a:r>
            <a:r>
              <a:rPr dirty="0" err="1"/>
              <a:t>AgentOps</a:t>
            </a:r>
            <a:r>
              <a:rPr dirty="0"/>
              <a:t> &amp; Security</a:t>
            </a:r>
          </a:p>
          <a:p>
            <a:pPr>
              <a:defRPr sz="1800"/>
            </a:pPr>
            <a:r>
              <a:rPr dirty="0"/>
              <a:t>   - Model Armor, Guardrails, and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Theoretical Shift: System 1 vs. System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61" y="1488613"/>
            <a:ext cx="5545725" cy="4998104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The GenAI Era (System 1):</a:t>
            </a:r>
          </a:p>
          <a:p>
            <a:pPr>
              <a:defRPr sz="1800"/>
            </a:pPr>
            <a:r>
              <a:rPr dirty="0"/>
              <a:t>- Fast, instinctive, request-response.</a:t>
            </a:r>
          </a:p>
          <a:p>
            <a:pPr>
              <a:defRPr sz="1800"/>
            </a:pPr>
            <a:r>
              <a:rPr dirty="0"/>
              <a:t>- Prone to hallucination; stateless.</a:t>
            </a:r>
          </a:p>
          <a:p>
            <a:pPr>
              <a:defRPr sz="1800"/>
            </a:pPr>
            <a:r>
              <a:rPr dirty="0"/>
              <a:t>The Agentic Era (System 2):</a:t>
            </a:r>
          </a:p>
          <a:p>
            <a:pPr>
              <a:defRPr sz="1800"/>
            </a:pPr>
            <a:r>
              <a:rPr dirty="0"/>
              <a:t>- Deliberative, logical, multi-step.</a:t>
            </a:r>
          </a:p>
          <a:p>
            <a:pPr>
              <a:defRPr sz="1800"/>
            </a:pPr>
            <a:r>
              <a:rPr dirty="0"/>
              <a:t>- Internal Monologue: Models like Gemini 2.5 plan actions before execution.</a:t>
            </a:r>
          </a:p>
          <a:p>
            <a:pPr>
              <a:defRPr sz="1800"/>
            </a:pPr>
            <a:r>
              <a:rPr dirty="0"/>
              <a:t>Component Model:</a:t>
            </a:r>
          </a:p>
          <a:p>
            <a:pPr>
              <a:defRPr sz="1800"/>
            </a:pPr>
            <a:r>
              <a:rPr dirty="0"/>
              <a:t>- Profile: Immutable system instructions (Persona).</a:t>
            </a:r>
          </a:p>
          <a:p>
            <a:pPr>
              <a:defRPr sz="1800"/>
            </a:pPr>
            <a:r>
              <a:rPr dirty="0"/>
              <a:t>- Memory: Short-term context + Long-term semantic store.</a:t>
            </a:r>
          </a:p>
          <a:p>
            <a:pPr>
              <a:defRPr sz="1800"/>
            </a:pPr>
            <a:r>
              <a:rPr dirty="0"/>
              <a:t>- Planning: Reasoning engine (</a:t>
            </a:r>
            <a:r>
              <a:rPr dirty="0" err="1"/>
              <a:t>CoT</a:t>
            </a:r>
            <a:r>
              <a:rPr dirty="0"/>
              <a:t>).</a:t>
            </a:r>
          </a:p>
          <a:p>
            <a:pPr>
              <a:defRPr sz="1800"/>
            </a:pPr>
            <a:r>
              <a:rPr dirty="0"/>
              <a:t>- Tools: Capabilities (Search, Code Execution, APIs).</a:t>
            </a:r>
          </a:p>
        </p:txBody>
      </p:sp>
      <p:pic>
        <p:nvPicPr>
          <p:cNvPr id="2050" name="Picture 2" descr="System 1 and 2: Thinking fast? Slow down.">
            <a:extLst>
              <a:ext uri="{FF2B5EF4-FFF2-40B4-BE49-F238E27FC236}">
                <a16:creationId xmlns:a16="http://schemas.microsoft.com/office/drawing/2014/main" id="{C1DE8237-9DBF-4612-7FBF-AC749391F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848" y="1620728"/>
            <a:ext cx="3673152" cy="411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Google ADK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What is it? A code-first, model-agnostic framework for building production agents.</a:t>
            </a:r>
          </a:p>
          <a:p>
            <a:pPr>
              <a:defRPr sz="1800"/>
            </a:pPr>
            <a:r>
              <a:t>Target Audience: Software Engineers, not just prompt engineers.</a:t>
            </a:r>
          </a:p>
          <a:p>
            <a:pPr>
              <a:defRPr sz="1800"/>
            </a:pPr>
            <a:r>
              <a:t>Key Philosophy: 'Everything is an Agent.'</a:t>
            </a:r>
          </a:p>
          <a:p>
            <a:pPr>
              <a:defRPr sz="1800"/>
            </a:pPr>
            <a:r>
              <a:t>- Treats agents as modular software objects, not magic strings.</a:t>
            </a:r>
          </a:p>
          <a:p>
            <a:pPr>
              <a:defRPr sz="1800"/>
            </a:pPr>
            <a:r>
              <a:t>Language Support: Python, TypeScript, Go, Java.</a:t>
            </a:r>
          </a:p>
          <a:p>
            <a:pPr>
              <a:defRPr sz="1800"/>
            </a:pPr>
            <a:r>
              <a:t>Installation: pip install google-adk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D446-B384-FD7E-FD92-4BDAEB3A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EF8D-480E-43CD-0B75-90213E67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Google ADK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29D6CD-DE11-77D0-246E-2EBCF4C02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Agents - Agent Development Kit">
            <a:extLst>
              <a:ext uri="{FF2B5EF4-FFF2-40B4-BE49-F238E27FC236}">
                <a16:creationId xmlns:a16="http://schemas.microsoft.com/office/drawing/2014/main" id="{2A59C1FC-78C0-64DD-F026-D2B0C76AE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97" y="1861158"/>
            <a:ext cx="8579404" cy="428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27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LlmAgent Primitive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pPr>
              <a:defRPr sz="1800"/>
            </a:pPr>
            <a:r>
              <a:t>Core Class: LlmAgent wraps the model, memory, and tools.</a:t>
            </a:r>
          </a:p>
          <a:p>
            <a:pPr>
              <a:defRPr sz="1800"/>
            </a:pPr>
            <a:r>
              <a:t>Configuration:</a:t>
            </a:r>
          </a:p>
          <a:p>
            <a:pPr>
              <a:defRPr sz="1800"/>
            </a:pPr>
            <a:r>
              <a:t>- model: e.g., gemini-2.5-pro (or non-Google models via LiteLLM).</a:t>
            </a:r>
          </a:p>
          <a:p>
            <a:pPr>
              <a:defRPr sz="1800"/>
            </a:pPr>
            <a:r>
              <a:t>- system_instruction: The 'Prime Directive' defining role and tone.</a:t>
            </a:r>
          </a:p>
          <a:p>
            <a:pPr>
              <a:defRPr sz="1800"/>
            </a:pPr>
            <a:r>
              <a:t>- tools: List of Python functions.</a:t>
            </a:r>
          </a:p>
          <a:p>
            <a:pPr>
              <a:defRPr sz="1800"/>
            </a:pPr>
            <a:r>
              <a:t>Code-as-Configuration:</a:t>
            </a:r>
          </a:p>
          <a:p>
            <a:pPr>
              <a:defRPr sz="1800"/>
            </a:pPr>
            <a:r>
              <a:t>- ADK inspects Python type hints to auto-generate OpenAPI/JSON schemas for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Agents (Deterministic Control)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defRPr sz="1800"/>
            </a:pPr>
            <a:r>
              <a:t>Why? Not all logic should be probabilistic. Reliability requires control flow.</a:t>
            </a:r>
          </a:p>
          <a:p>
            <a:pPr>
              <a:defRPr sz="1800"/>
            </a:pPr>
            <a:r>
              <a:t>SequentialAgent:</a:t>
            </a:r>
          </a:p>
          <a:p>
            <a:pPr>
              <a:defRPr sz="1800"/>
            </a:pPr>
            <a:r>
              <a:t>- Linear pipeline (Input -&gt; Agent A -&gt; Agent B -&gt; Output).</a:t>
            </a:r>
          </a:p>
          <a:p>
            <a:pPr>
              <a:defRPr sz="1800"/>
            </a:pPr>
            <a:r>
              <a:t>- Use case: Research -&gt; Write -&gt; Edit pipelines.</a:t>
            </a:r>
          </a:p>
          <a:p>
            <a:pPr>
              <a:defRPr sz="1800"/>
            </a:pPr>
            <a:r>
              <a:t>ParallelAgent (Fan-Out):</a:t>
            </a:r>
          </a:p>
          <a:p>
            <a:pPr>
              <a:defRPr sz="1800"/>
            </a:pPr>
            <a:r>
              <a:t>- Executes multiple sub-agents concurrently.</a:t>
            </a:r>
          </a:p>
          <a:p>
            <a:pPr>
              <a:defRPr sz="1800"/>
            </a:pPr>
            <a:r>
              <a:t>- Swarm Architecture: e.g., Security Audit (Static Analysis + Dependency Check running simultaneously).</a:t>
            </a:r>
          </a:p>
          <a:p>
            <a:pPr>
              <a:defRPr sz="1800"/>
            </a:pPr>
            <a:r>
              <a:t>LoopAgent:</a:t>
            </a:r>
          </a:p>
          <a:p>
            <a:pPr>
              <a:defRPr sz="1800"/>
            </a:pPr>
            <a:r>
              <a:t>- Iterative logic based on state conditions (e.g., while status != 'APPROVED').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Design Pattern: Hierarchical Task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The Coordinator Pattern:</a:t>
            </a:r>
          </a:p>
          <a:p>
            <a:pPr>
              <a:defRPr sz="1800"/>
            </a:pPr>
            <a:r>
              <a:t>- A 'Root' agent breaks down complex queries into sub-tasks.</a:t>
            </a:r>
          </a:p>
          <a:p>
            <a:pPr>
              <a:defRPr sz="1800"/>
            </a:pPr>
            <a:r>
              <a:t>- Routes work to specialized 'Sub-agents' (Research, Writing, Compliance).</a:t>
            </a:r>
          </a:p>
          <a:p>
            <a:pPr>
              <a:defRPr sz="1800"/>
            </a:pPr>
            <a:r>
              <a:t>Benefit: Solves 'Context Window Pollution' by isolating tools and prompts inside sub-agents.</a:t>
            </a:r>
          </a:p>
          <a:p>
            <a:pPr>
              <a:defRPr sz="1800"/>
            </a:pPr>
            <a:r>
              <a:t>Routing: Can be implicit (LLM decides) or explicit (hardcoded).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D7F0-1AC3-B76E-5DA5-CAB4EC31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1AAA-B5ED-5650-624F-1399501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Design Pattern: Hierarchical Task Decomposition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04BAF06A-7CBE-7ADA-617B-045ADDDD57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2232813" cy="223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1A0315-EE22-9C3D-177F-774FCE62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70" y="1999296"/>
            <a:ext cx="5050178" cy="393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2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Design Pattern: Reflection (Generator-Critic)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Workflow:</a:t>
            </a:r>
          </a:p>
          <a:p>
            <a:pPr>
              <a:defRPr sz="1800"/>
            </a:pPr>
            <a:r>
              <a:t>1. Generator: Creates an initial artifact (code/draft).</a:t>
            </a:r>
          </a:p>
          <a:p>
            <a:pPr>
              <a:defRPr sz="1800"/>
            </a:pPr>
            <a:r>
              <a:t>2. Critic: Evaluates against criteria (syntax, safety).</a:t>
            </a:r>
          </a:p>
          <a:p>
            <a:pPr>
              <a:defRPr sz="1800"/>
            </a:pPr>
            <a:r>
              <a:t>3. Loop Controller: If 'Fail', feeds feedback back to Generator. If 'Pass', terminates.</a:t>
            </a:r>
          </a:p>
          <a:p>
            <a:pPr>
              <a:defRPr sz="1800"/>
            </a:pPr>
            <a:r>
              <a:t>Implementation: LoopAgent wrapping a SequentialAgent.</a:t>
            </a:r>
          </a:p>
          <a:p>
            <a:pPr>
              <a:defRPr sz="1800"/>
            </a:pPr>
            <a:r>
              <a:t>Result: Significantly higher quality output for complex tasks like coding.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6B03-D162-AA30-8D73-69D1A494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00EC-9CD8-FE78-4D6C-88D66484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Design Pattern: Reflection (Generator-Critic)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43B709-8112-7E78-DA79-43E3D38E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89" y="2379941"/>
            <a:ext cx="6882694" cy="264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76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State with the Session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The Challenge: LLMs are stateless; passing full history is expensive and messy.</a:t>
            </a:r>
          </a:p>
          <a:p>
            <a:pPr>
              <a:defRPr sz="1800"/>
            </a:pPr>
            <a:r>
              <a:t>The ADK Solution: Session Object.</a:t>
            </a:r>
          </a:p>
          <a:p>
            <a:pPr>
              <a:defRPr sz="1800"/>
            </a:pPr>
            <a:r>
              <a:t>- Conversation History: Chronological log of messages.</a:t>
            </a:r>
          </a:p>
          <a:p>
            <a:pPr>
              <a:defRPr sz="1800"/>
            </a:pPr>
            <a:r>
              <a:t>- Session State: A structured 'Blackboard' (session.state) for sharing artifacts (files, drafts) between agents.</a:t>
            </a:r>
          </a:p>
          <a:p>
            <a:pPr>
              <a:defRPr sz="1800"/>
            </a:pPr>
            <a:r>
              <a:t>Persistence:</a:t>
            </a:r>
          </a:p>
          <a:p>
            <a:pPr>
              <a:defRPr sz="1800"/>
            </a:pPr>
            <a:r>
              <a:t>- Dev: InMemorySessionService (volatile).</a:t>
            </a:r>
          </a:p>
          <a:p>
            <a:pPr>
              <a:defRPr sz="1800"/>
            </a:pPr>
            <a:r>
              <a:t>- Prod: Vertex AI managed persistence (allows session resumption days later).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Agent Engine (The Runtime)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1800"/>
            </a:pPr>
            <a:r>
              <a:t>Architecture: Serverless, containerized execution environment.</a:t>
            </a:r>
          </a:p>
          <a:p>
            <a:pPr>
              <a:defRPr sz="1800"/>
            </a:pPr>
            <a:r>
              <a:t>'Pickling' the Agent: Captures local Python code + requirements.txt and deploys to a managed cluster.</a:t>
            </a:r>
          </a:p>
          <a:p>
            <a:pPr>
              <a:defRPr sz="1800"/>
            </a:pPr>
            <a:r>
              <a:t>The Memory Bank:</a:t>
            </a:r>
          </a:p>
          <a:p>
            <a:pPr>
              <a:defRPr sz="1800"/>
            </a:pPr>
            <a:r>
              <a:t>- Managed RAG layer for long-term storage.</a:t>
            </a:r>
          </a:p>
          <a:p>
            <a:pPr>
              <a:defRPr sz="1800"/>
            </a:pPr>
            <a:r>
              <a:t>- Semantic Memory: Agents can extract facts ('User prefers Python') and store them for future sessions.</a:t>
            </a:r>
          </a:p>
          <a:p>
            <a:pPr>
              <a:defRPr sz="1800"/>
            </a:pPr>
            <a:r>
              <a:t>Operational Quotas:</a:t>
            </a:r>
          </a:p>
          <a:p>
            <a:pPr>
              <a:defRPr sz="1800"/>
            </a:pPr>
            <a:r>
              <a:t>- Timeout: Default 60s (requires async for long loops).</a:t>
            </a:r>
          </a:p>
          <a:p>
            <a:pPr>
              <a:defRPr sz="1800"/>
            </a:pPr>
            <a:r>
              <a:t>- Concurrency: Default 100 requests/instance.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FAC6-3935-E71B-DC1E-058953B1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3CEF-FBDA-53AC-D546-878F323A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59" y="63415"/>
            <a:ext cx="6347713" cy="746658"/>
          </a:xfrm>
        </p:spPr>
        <p:txBody>
          <a:bodyPr/>
          <a:lstStyle/>
          <a:p>
            <a:r>
              <a:rPr dirty="0"/>
              <a:t>Vertex AI Agent Engine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979FE-50AD-E849-95FB-39BA68DA8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01"/>
          <a:stretch>
            <a:fillRect/>
          </a:stretch>
        </p:blipFill>
        <p:spPr>
          <a:xfrm>
            <a:off x="0" y="730292"/>
            <a:ext cx="7011833" cy="3387030"/>
          </a:xfrm>
          <a:prstGeom prst="rect">
            <a:avLst/>
          </a:prstGeom>
        </p:spPr>
      </p:pic>
      <p:pic>
        <p:nvPicPr>
          <p:cNvPr id="7170" name="Picture 2" descr="Vertex AI Agent Engine Memory Bank overview | Vertex AI Agent Builder |  Google Cloud Documentation">
            <a:extLst>
              <a:ext uri="{FF2B5EF4-FFF2-40B4-BE49-F238E27FC236}">
                <a16:creationId xmlns:a16="http://schemas.microsoft.com/office/drawing/2014/main" id="{CE073580-5A81-C006-9F4C-BEC5FB8CE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63" y="4086787"/>
            <a:ext cx="5572317" cy="270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60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Internet of Agents: Agent2Agent (A2A)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Problem: The 'Silo Problem.' A Salesforce agent cannot talk to a Google Cloud agent.</a:t>
            </a:r>
          </a:p>
          <a:p>
            <a:pPr>
              <a:defRPr sz="1800"/>
            </a:pPr>
            <a:r>
              <a:t>Solution: A2A Protocol (Linux Foundation Standard).</a:t>
            </a:r>
          </a:p>
          <a:p>
            <a:pPr>
              <a:defRPr sz="1800"/>
            </a:pPr>
            <a:r>
              <a:t>Purpose: Standardizes how agents discover, authenticate, and task one another.</a:t>
            </a:r>
          </a:p>
          <a:p>
            <a:pPr>
              <a:defRPr sz="1800"/>
            </a:pPr>
            <a:r>
              <a:t>Differentiation:</a:t>
            </a:r>
          </a:p>
          <a:p>
            <a:pPr>
              <a:defRPr sz="1800"/>
            </a:pPr>
            <a:r>
              <a:t>- MCP (Model Context Protocol): Agent-to-Tool standard.</a:t>
            </a:r>
          </a:p>
          <a:p>
            <a:pPr>
              <a:defRPr sz="1800"/>
            </a:pPr>
            <a:r>
              <a:t>- A2A: Agent-to-Agent standard.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0F20-E3DE-7C57-8DE4-B6F536A1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D871-7DB4-C018-E379-9E923307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Internet of Agents: Agent2Agent (A2A)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AF9B34-40AE-4DE8-745F-2CC28A662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🦸🏻#17: What is A2A and why is it – still! – underappreciated?">
            <a:extLst>
              <a:ext uri="{FF2B5EF4-FFF2-40B4-BE49-F238E27FC236}">
                <a16:creationId xmlns:a16="http://schemas.microsoft.com/office/drawing/2014/main" id="{471EEC26-AAB7-0D51-A628-C8DB611FD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987"/>
            <a:ext cx="9144000" cy="659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310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A2A 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Transport: JSON-RPC 2.0 over HTTP(S).</a:t>
            </a:r>
          </a:p>
          <a:p>
            <a:pPr>
              <a:defRPr sz="1800"/>
            </a:pPr>
            <a:r>
              <a:t>Discovery: The Agent Card.</a:t>
            </a:r>
          </a:p>
          <a:p>
            <a:pPr>
              <a:defRPr sz="1800"/>
            </a:pPr>
            <a:r>
              <a:t>- A JSON file hosted at a known URL listing Identity, Capabilities, and Auth Schemes.</a:t>
            </a:r>
          </a:p>
          <a:p>
            <a:pPr>
              <a:defRPr sz="1800"/>
            </a:pPr>
            <a:r>
              <a:t>Security (Zero Trust):</a:t>
            </a:r>
          </a:p>
          <a:p>
            <a:pPr>
              <a:defRPr sz="1800"/>
            </a:pPr>
            <a:r>
              <a:t>- Standardized on OIDC (OpenID Connect).</a:t>
            </a:r>
          </a:p>
          <a:p>
            <a:pPr>
              <a:defRPr sz="1800"/>
            </a:pPr>
            <a:r>
              <a:t>- Opacity: Agent A sends a request but *never* sees Agent B’s internal prompt or memory.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B3F3-19CB-E7DB-CEBD-7D5D589A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EC81-90B1-BBB1-3B8F-464F7C7A5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74" y="30685"/>
            <a:ext cx="2735018" cy="587098"/>
          </a:xfrm>
        </p:spPr>
        <p:txBody>
          <a:bodyPr>
            <a:normAutofit fontScale="90000"/>
          </a:bodyPr>
          <a:lstStyle/>
          <a:p>
            <a:r>
              <a:rPr dirty="0"/>
              <a:t>A2A</a:t>
            </a:r>
            <a:r>
              <a:rPr lang="en-US" dirty="0"/>
              <a:t> Overview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8A228A-8B31-CB41-56F9-568C53C4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129BD0C-E20C-F665-136B-7BE222E85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5663"/>
            <a:ext cx="9144000" cy="591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56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A2A Task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Asynchrony: Tasks are decoupled from results.</a:t>
            </a:r>
          </a:p>
          <a:p>
            <a:pPr>
              <a:defRPr sz="1800"/>
            </a:pPr>
            <a:r>
              <a:t>1. Request: Client sends JSON-RPC message/send.</a:t>
            </a:r>
          </a:p>
          <a:p>
            <a:pPr>
              <a:defRPr sz="1800"/>
            </a:pPr>
            <a:r>
              <a:t>2. Ack: Server returns a Task object (Status: queued).</a:t>
            </a:r>
          </a:p>
          <a:p>
            <a:pPr>
              <a:defRPr sz="1800"/>
            </a:pPr>
            <a:r>
              <a:t>3. Execution: Server agent processes the task.</a:t>
            </a:r>
          </a:p>
          <a:p>
            <a:pPr>
              <a:defRPr sz="1800"/>
            </a:pPr>
            <a:r>
              <a:t>4. Completion: Client receives result via Webhook or Server-Sent Events (SSE).</a:t>
            </a:r>
          </a:p>
          <a:p>
            <a:pPr>
              <a:defRPr sz="1800"/>
            </a:pPr>
            <a:r>
              <a:t>Artifact Exchange: High-fidelity data (files, datasets) exchanged separately from the conversation stream.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3B60-8D82-CDE8-299E-00882D1C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B523-A8FD-0792-B613-5F44B304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A2A with MCP</a:t>
            </a:r>
            <a:endParaRPr dirty="0"/>
          </a:p>
        </p:txBody>
      </p:sp>
      <p:pic>
        <p:nvPicPr>
          <p:cNvPr id="5122" name="Picture 2" descr="A2A Protocol Explained">
            <a:extLst>
              <a:ext uri="{FF2B5EF4-FFF2-40B4-BE49-F238E27FC236}">
                <a16:creationId xmlns:a16="http://schemas.microsoft.com/office/drawing/2014/main" id="{2E231710-12F9-DFF5-9CB0-0C15A1299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153829"/>
            <a:ext cx="6636122" cy="550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780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AgentOps: Security &amp; 'Model Armor'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Principle: Safety cannot rely on the model alone.</a:t>
            </a:r>
          </a:p>
          <a:p>
            <a:pPr>
              <a:defRPr sz="1800"/>
            </a:pPr>
            <a:r>
              <a:t>Guardrails: Deterministic proxy layer checking inputs/outputs.</a:t>
            </a:r>
          </a:p>
          <a:p>
            <a:pPr>
              <a:defRPr sz="1800"/>
            </a:pPr>
            <a:r>
              <a:t>- Filters: PII, Hate Speech, Jailbreak attempts.</a:t>
            </a:r>
          </a:p>
          <a:p>
            <a:pPr>
              <a:defRPr sz="1800"/>
            </a:pPr>
            <a:r>
              <a:t>Refusal: Returns canned responses to prevent prompt injection attacks.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Cloud Trace: Visualize the 'Thought Process' as a waterfall trace.</a:t>
            </a:r>
          </a:p>
          <a:p>
            <a:pPr>
              <a:defRPr sz="1800"/>
            </a:pPr>
            <a:r>
              <a:t>- See latency spans for each sub-agent and tool call.</a:t>
            </a:r>
          </a:p>
          <a:p>
            <a:pPr>
              <a:defRPr sz="1800"/>
            </a:pPr>
            <a:r>
              <a:t>Metrics: Monitor Token Count (Cost), Tool Error Rate, and Step Count (Loop detection).</a:t>
            </a:r>
          </a:p>
          <a:p>
            <a:pPr>
              <a:defRPr sz="1800"/>
            </a:pPr>
            <a:r>
              <a:t>Evaluation (CI/CD):</a:t>
            </a:r>
          </a:p>
          <a:p>
            <a:pPr>
              <a:defRPr sz="1800"/>
            </a:pPr>
            <a:r>
              <a:t>- Golden Datasets: Regression testing with 'Judge' models scoring Fluency and Groundedness.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ADK: Use for building robust, stateful, 'Agent-as-a-Product'.</a:t>
            </a:r>
          </a:p>
          <a:p>
            <a:pPr>
              <a:defRPr sz="1800"/>
            </a:pPr>
            <a:r>
              <a:rPr dirty="0"/>
              <a:t>A2A: Use to connect your agents to the broader ecosystem.</a:t>
            </a:r>
          </a:p>
          <a:p>
            <a:pPr>
              <a:defRPr sz="1800"/>
            </a:pPr>
            <a:r>
              <a:rPr dirty="0"/>
              <a:t>The Future: Moving from 'Chatting with Machines' to 'Collaborating with Systems'.</a:t>
            </a:r>
          </a:p>
          <a:p>
            <a:pPr>
              <a:defRPr sz="1800"/>
            </a:pPr>
            <a:r>
              <a:rPr dirty="0"/>
              <a:t>Resources:</a:t>
            </a:r>
          </a:p>
          <a:p>
            <a:pPr>
              <a:defRPr sz="1800"/>
            </a:pPr>
            <a:r>
              <a:rPr dirty="0"/>
              <a:t>- </a:t>
            </a:r>
            <a:r>
              <a:rPr lang="en-US" dirty="0">
                <a:hlinkClick r:id="rId2"/>
              </a:rPr>
              <a:t>https://</a:t>
            </a:r>
            <a:r>
              <a:rPr dirty="0">
                <a:hlinkClick r:id="rId2"/>
              </a:rPr>
              <a:t>google.github.io/adk-docs/</a:t>
            </a:r>
            <a:r>
              <a:rPr lang="en-US" dirty="0"/>
              <a:t> </a:t>
            </a:r>
            <a:endParaRPr dirty="0"/>
          </a:p>
          <a:p>
            <a:pPr>
              <a:defRPr sz="1800"/>
            </a:pPr>
            <a:r>
              <a:rPr dirty="0"/>
              <a:t>- </a:t>
            </a:r>
            <a:r>
              <a:rPr lang="en-US" dirty="0">
                <a:hlinkClick r:id="rId3"/>
              </a:rPr>
              <a:t>https://</a:t>
            </a:r>
            <a:r>
              <a:rPr dirty="0">
                <a:hlinkClick r:id="rId3"/>
              </a:rPr>
              <a:t>a2a-protocol.org</a:t>
            </a:r>
            <a:r>
              <a:rPr lang="en-US" dirty="0"/>
              <a:t> </a:t>
            </a:r>
          </a:p>
          <a:p>
            <a:pPr>
              <a:defRPr sz="1800"/>
            </a:pPr>
            <a:r>
              <a:rPr lang="en-US" dirty="0"/>
              <a:t>- </a:t>
            </a:r>
            <a:r>
              <a:rPr lang="en-US" dirty="0">
                <a:hlinkClick r:id="rId4"/>
              </a:rPr>
              <a:t>https://docs.cloud.google.com/architecture/agentic-ai-overview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D5B1-F180-4F23-40B9-A208587D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96689-6C70-DB78-9FD2-CCCEC117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705" y="1244338"/>
            <a:ext cx="4877444" cy="561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697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1365</Words>
  <Application>Microsoft Office PowerPoint</Application>
  <PresentationFormat>On-screen Show (4:3)</PresentationFormat>
  <Paragraphs>156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Trebuchet MS</vt:lpstr>
      <vt:lpstr>Wingdings 3</vt:lpstr>
      <vt:lpstr>Facet</vt:lpstr>
      <vt:lpstr>State of the Art in Agentic AI: From Scripts to Systems</vt:lpstr>
      <vt:lpstr>Agenda (Roadmap)</vt:lpstr>
      <vt:lpstr>The Theoretical Shift: System 1 vs. System 2</vt:lpstr>
      <vt:lpstr>Introduction to Google ADK</vt:lpstr>
      <vt:lpstr>Introduction to Google ADK</vt:lpstr>
      <vt:lpstr>The LlmAgent Primitive</vt:lpstr>
      <vt:lpstr>Workflow Agents (Deterministic Control)</vt:lpstr>
      <vt:lpstr>Design Pattern: Hierarchical Task Decomposition</vt:lpstr>
      <vt:lpstr>Design Pattern: Hierarchical Task Decomposition</vt:lpstr>
      <vt:lpstr>Design Pattern: Reflection (Generator-Critic)</vt:lpstr>
      <vt:lpstr>Design Pattern: Reflection (Generator-Critic)</vt:lpstr>
      <vt:lpstr>Managing State with the Session Object</vt:lpstr>
      <vt:lpstr>Vertex AI Agent Engine (The Runtime)</vt:lpstr>
      <vt:lpstr>Vertex AI Agent Engine</vt:lpstr>
      <vt:lpstr>The Internet of Agents: Agent2Agent (A2A)</vt:lpstr>
      <vt:lpstr>The Internet of Agents: Agent2Agent (A2A)</vt:lpstr>
      <vt:lpstr>A2A Technical Specifications</vt:lpstr>
      <vt:lpstr>A2A Overview</vt:lpstr>
      <vt:lpstr>The A2A Task Lifecycle</vt:lpstr>
      <vt:lpstr>A2A with MCP</vt:lpstr>
      <vt:lpstr>AgentOps: Security &amp; 'Model Armor'</vt:lpstr>
      <vt:lpstr>Observability &amp; Evaluation</vt:lpstr>
      <vt:lpstr>Summary &amp; Conclusion</vt:lpstr>
      <vt:lpstr>Materials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Muntaser Syed</cp:lastModifiedBy>
  <cp:revision>3</cp:revision>
  <dcterms:created xsi:type="dcterms:W3CDTF">2013-01-27T09:14:16Z</dcterms:created>
  <dcterms:modified xsi:type="dcterms:W3CDTF">2026-01-28T20:05:50Z</dcterms:modified>
  <cp:category/>
</cp:coreProperties>
</file>